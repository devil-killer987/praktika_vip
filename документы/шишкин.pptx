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2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5" d="100"/>
          <a:sy n="85" d="100"/>
        </p:scale>
        <p:origin x="120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2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1803405"/>
            <a:ext cx="9448800" cy="1825096"/>
          </a:xfrm>
        </p:spPr>
        <p:txBody>
          <a:bodyPr anchor="b">
            <a:normAutofit/>
          </a:bodyPr>
          <a:lstStyle>
            <a:lvl1pPr algn="l">
              <a:defRPr sz="6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632201"/>
            <a:ext cx="9448800" cy="685800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09561" y="4314328"/>
            <a:ext cx="2910840" cy="374642"/>
          </a:xfrm>
        </p:spPr>
        <p:txBody>
          <a:bodyPr/>
          <a:lstStyle/>
          <a:p>
            <a:fld id="{F45836B8-57C6-41FD-BDA6-94BE9EDB6248}" type="datetimeFigureOut">
              <a:rPr lang="ru-RU" smtClean="0"/>
              <a:t>04.05.2026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371600" y="4323845"/>
            <a:ext cx="6400800" cy="365125"/>
          </a:xfrm>
        </p:spPr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77200" y="1430866"/>
            <a:ext cx="2743200" cy="365125"/>
          </a:xfrm>
        </p:spPr>
        <p:txBody>
          <a:bodyPr/>
          <a:lstStyle/>
          <a:p>
            <a:fld id="{7744CF79-6A8A-4D11-9262-00415365B72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576991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5836B8-57C6-41FD-BDA6-94BE9EDB6248}" type="datetimeFigureOut">
              <a:rPr lang="ru-RU" smtClean="0"/>
              <a:t>04.05.2026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44CF79-6A8A-4D11-9262-00415365B72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187979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2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3"/>
            <a:ext cx="10820399" cy="2801935"/>
          </a:xfrm>
        </p:spPr>
        <p:txBody>
          <a:bodyPr anchor="b">
            <a:normAutofit/>
          </a:bodyPr>
          <a:lstStyle>
            <a:lvl1pPr algn="r">
              <a:defRPr sz="4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467" y="3641725"/>
            <a:ext cx="10490200" cy="955675"/>
          </a:xfrm>
        </p:spPr>
        <p:txBody>
          <a:bodyPr>
            <a:normAutofit/>
          </a:bodyPr>
          <a:lstStyle>
            <a:lvl1pPr marL="0" indent="0" algn="r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F45836B8-57C6-41FD-BDA6-94BE9EDB6248}" type="datetimeFigureOut">
              <a:rPr lang="ru-RU" smtClean="0"/>
              <a:t>04.05.2026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1"/>
            <a:ext cx="6991492" cy="364065"/>
          </a:xfrm>
        </p:spPr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7744CF79-6A8A-4D11-9262-00415365B72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859534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2194559"/>
            <a:ext cx="5334000" cy="4024125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194559"/>
            <a:ext cx="5334000" cy="4024125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5836B8-57C6-41FD-BDA6-94BE9EDB6248}" type="datetimeFigureOut">
              <a:rPr lang="ru-RU" smtClean="0"/>
              <a:t>04.05.2026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44CF79-6A8A-4D11-9262-00415365B72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487148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600" cy="1295400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9" y="2183802"/>
            <a:ext cx="5079991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0" y="3132666"/>
            <a:ext cx="5311775" cy="3086019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0" y="2183802"/>
            <a:ext cx="5105400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132666"/>
            <a:ext cx="5334000" cy="3086019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5836B8-57C6-41FD-BDA6-94BE9EDB6248}" type="datetimeFigureOut">
              <a:rPr lang="ru-RU" smtClean="0"/>
              <a:t>04.05.2026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44CF79-6A8A-4D11-9262-00415365B72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426616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5836B8-57C6-41FD-BDA6-94BE9EDB6248}" type="datetimeFigureOut">
              <a:rPr lang="ru-RU" smtClean="0"/>
              <a:t>04.05.2026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44CF79-6A8A-4D11-9262-00415365B72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354010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5836B8-57C6-41FD-BDA6-94BE9EDB6248}" type="datetimeFigureOut">
              <a:rPr lang="ru-RU" smtClean="0"/>
              <a:t>04.05.2026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44CF79-6A8A-4D11-9262-00415365B72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565693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411480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95582" y="746759"/>
            <a:ext cx="6510618" cy="5471925"/>
          </a:xfrm>
        </p:spPr>
        <p:txBody>
          <a:bodyPr anchor="ctr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411480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5836B8-57C6-41FD-BDA6-94BE9EDB6248}" type="datetimeFigureOut">
              <a:rPr lang="ru-RU" smtClean="0"/>
              <a:t>04.05.2026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44CF79-6A8A-4D11-9262-00415365B72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017123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687324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861238" y="751241"/>
            <a:ext cx="3644962" cy="5467443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687324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5836B8-57C6-41FD-BDA6-94BE9EDB6248}" type="datetimeFigureOut">
              <a:rPr lang="ru-RU" smtClean="0"/>
              <a:t>04.05.2026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44CF79-6A8A-4D11-9262-00415365B72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79677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анорамная фотография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77" y="4697360"/>
            <a:ext cx="10822034" cy="81935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1727" y="941439"/>
            <a:ext cx="10821840" cy="3478161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516715"/>
            <a:ext cx="10820400" cy="701969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5836B8-57C6-41FD-BDA6-94BE9EDB6248}" type="datetimeFigureOut">
              <a:rPr lang="ru-RU" smtClean="0"/>
              <a:t>04.05.2026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44CF79-6A8A-4D11-9262-00415365B72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565148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2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2"/>
            <a:ext cx="10820400" cy="2802467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9133"/>
            <a:ext cx="10130516" cy="99906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F45836B8-57C6-41FD-BDA6-94BE9EDB6248}" type="datetimeFigureOut">
              <a:rPr lang="ru-RU" smtClean="0"/>
              <a:t>04.05.2026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7744CF79-6A8A-4D11-9262-00415365B72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0419122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2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67" y="753533"/>
            <a:ext cx="10151533" cy="2604495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303865" y="3365556"/>
            <a:ext cx="9592736" cy="4444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959862"/>
            <a:ext cx="10151533" cy="679871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F45836B8-57C6-41FD-BDA6-94BE9EDB6248}" type="datetimeFigureOut">
              <a:rPr lang="ru-RU" smtClean="0"/>
              <a:t>04.05.2026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7744CF79-6A8A-4D11-9262-00415365B721}" type="slidenum">
              <a:rPr lang="ru-RU" smtClean="0"/>
              <a:t>‹#›</a:t>
            </a:fld>
            <a:endParaRPr lang="ru-RU"/>
          </a:p>
        </p:txBody>
      </p:sp>
      <p:sp>
        <p:nvSpPr>
          <p:cNvPr id="9" name="TextBox 8"/>
          <p:cNvSpPr txBox="1"/>
          <p:nvPr/>
        </p:nvSpPr>
        <p:spPr>
          <a:xfrm>
            <a:off x="476250" y="93345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84230" y="270129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46707616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2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95" y="1124701"/>
            <a:ext cx="10146186" cy="251183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8315"/>
            <a:ext cx="10144654" cy="99988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78883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F45836B8-57C6-41FD-BDA6-94BE9EDB6248}" type="datetimeFigureOut">
              <a:rPr lang="ru-RU" smtClean="0"/>
              <a:t>04.05.2026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8883"/>
            <a:ext cx="6991492" cy="365125"/>
          </a:xfrm>
        </p:spPr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7744CF79-6A8A-4D11-9262-00415365B72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4114868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Три колонк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2895600" y="761999"/>
            <a:ext cx="8610599" cy="1303867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800" y="2202080"/>
            <a:ext cx="3456432" cy="61732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799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68800" y="2201333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366858" y="2904067"/>
            <a:ext cx="3456432" cy="331461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51800" y="2192866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8051801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5836B8-57C6-41FD-BDA6-94BE9EDB6248}" type="datetimeFigureOut">
              <a:rPr lang="ru-RU" smtClean="0"/>
              <a:t>04.05.2026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44CF79-6A8A-4D11-9262-00415365B72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4084920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Столбец с тремя рисункам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599" cy="1295400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8618" y="4191000"/>
            <a:ext cx="3451582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8618" y="2362200"/>
            <a:ext cx="3451582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8618" y="4873764"/>
            <a:ext cx="3451582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74263" y="4191000"/>
            <a:ext cx="3448935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374263" y="2362200"/>
            <a:ext cx="3448936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374264" y="4873763"/>
            <a:ext cx="344893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49731" y="4191000"/>
            <a:ext cx="3456469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49855" y="2362200"/>
            <a:ext cx="3447878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8049731" y="4873761"/>
            <a:ext cx="345244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5836B8-57C6-41FD-BDA6-94BE9EDB6248}" type="datetimeFigureOut">
              <a:rPr lang="ru-RU" smtClean="0"/>
              <a:t>04.05.2026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44CF79-6A8A-4D11-9262-00415365B72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6185554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2194559"/>
            <a:ext cx="10820400" cy="4024125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5836B8-57C6-41FD-BDA6-94BE9EDB6248}" type="datetimeFigureOut">
              <a:rPr lang="ru-RU" smtClean="0"/>
              <a:t>04.05.2026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44CF79-6A8A-4D11-9262-00415365B72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0599855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2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48800" y="745066"/>
            <a:ext cx="2057400" cy="3903133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24466" y="745067"/>
            <a:ext cx="8204201" cy="3903133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79941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F45836B8-57C6-41FD-BDA6-94BE9EDB6248}" type="datetimeFigureOut">
              <a:rPr lang="ru-RU" smtClean="0"/>
              <a:t>04.05.2026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0"/>
            <a:ext cx="6991492" cy="365125"/>
          </a:xfrm>
        </p:spPr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7744CF79-6A8A-4D11-9262-00415365B72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009021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2-HD-TOP.pn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4414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95600" y="764373"/>
            <a:ext cx="8610600" cy="12930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194560"/>
            <a:ext cx="10820400" cy="4024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95360" y="6356350"/>
            <a:ext cx="29108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45836B8-57C6-41FD-BDA6-94BE9EDB6248}" type="datetimeFigureOut">
              <a:rPr lang="ru-RU" smtClean="0"/>
              <a:t>04.05.2026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355845"/>
            <a:ext cx="7772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000" y="3810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744CF79-6A8A-4D11-9262-00415365B72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000343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  <p:sldLayoutId id="2147483744" r:id="rId12"/>
    <p:sldLayoutId id="2147483745" r:id="rId13"/>
    <p:sldLayoutId id="2147483746" r:id="rId14"/>
    <p:sldLayoutId id="2147483747" r:id="rId15"/>
    <p:sldLayoutId id="2147483748" r:id="rId16"/>
    <p:sldLayoutId id="2147483749" r:id="rId17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40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gif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44DE39D-2622-465F-B1FF-5EE701D670D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pPr algn="ctr"/>
            <a:r>
              <a:rPr lang="ru-RU" sz="4000" b="1" i="0" dirty="0">
                <a:solidFill>
                  <a:srgbClr val="0F1115"/>
                </a:solidFill>
                <a:effectLst/>
                <a:latin typeface="quote-cjk-patch"/>
              </a:rPr>
              <a:t>Отчет по учебной практике</a:t>
            </a:r>
            <a:br>
              <a:rPr lang="ru-RU" sz="4000" dirty="0"/>
            </a:br>
            <a:r>
              <a:rPr lang="ru-RU" sz="4000" b="0" i="0" dirty="0">
                <a:solidFill>
                  <a:srgbClr val="0F1115"/>
                </a:solidFill>
                <a:effectLst/>
                <a:latin typeface="quote-cjk-patch"/>
              </a:rPr>
              <a:t>ПМ04. Сопровождение и обслуживание программного обеспечения компьютерных систем</a:t>
            </a:r>
            <a:endParaRPr lang="ru-RU" sz="4000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AA8A7307-9579-42F1-AE29-76D02109C4F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25000" lnSpcReduction="20000"/>
          </a:bodyPr>
          <a:lstStyle/>
          <a:p>
            <a:pPr algn="l"/>
            <a:r>
              <a:rPr lang="ru-RU" sz="8000" b="1" i="0" dirty="0">
                <a:solidFill>
                  <a:srgbClr val="0F1115"/>
                </a:solidFill>
                <a:effectLst/>
                <a:latin typeface="quote-cjk-patch"/>
              </a:rPr>
              <a:t>Студент:</a:t>
            </a:r>
            <a:r>
              <a:rPr lang="ru-RU" sz="8000" b="0" i="0" dirty="0">
                <a:solidFill>
                  <a:srgbClr val="0F1115"/>
                </a:solidFill>
                <a:effectLst/>
                <a:latin typeface="quote-cjk-patch"/>
              </a:rPr>
              <a:t> Шишкин Артём Григорьевич</a:t>
            </a:r>
            <a:br>
              <a:rPr lang="ru-RU" sz="8000" b="0" i="0" dirty="0">
                <a:solidFill>
                  <a:srgbClr val="0F1115"/>
                </a:solidFill>
                <a:effectLst/>
                <a:latin typeface="quote-cjk-patch"/>
              </a:rPr>
            </a:br>
            <a:r>
              <a:rPr lang="ru-RU" sz="8000" b="1" i="0" dirty="0">
                <a:solidFill>
                  <a:srgbClr val="0F1115"/>
                </a:solidFill>
                <a:effectLst/>
                <a:latin typeface="quote-cjk-patch"/>
              </a:rPr>
              <a:t>Группа:</a:t>
            </a:r>
            <a:r>
              <a:rPr lang="ru-RU" sz="8000" b="0" i="0" dirty="0">
                <a:solidFill>
                  <a:srgbClr val="0F1115"/>
                </a:solidFill>
                <a:effectLst/>
                <a:latin typeface="quote-cjk-patch"/>
              </a:rPr>
              <a:t> 23П-1</a:t>
            </a:r>
            <a:br>
              <a:rPr lang="ru-RU" sz="8000" b="0" i="0" dirty="0">
                <a:solidFill>
                  <a:srgbClr val="0F1115"/>
                </a:solidFill>
                <a:effectLst/>
                <a:latin typeface="quote-cjk-patch"/>
              </a:rPr>
            </a:br>
            <a:r>
              <a:rPr lang="ru-RU" sz="8000" b="1" i="0" dirty="0">
                <a:solidFill>
                  <a:srgbClr val="0F1115"/>
                </a:solidFill>
                <a:effectLst/>
                <a:latin typeface="quote-cjk-patch"/>
              </a:rPr>
              <a:t>Специальность:</a:t>
            </a:r>
            <a:r>
              <a:rPr lang="ru-RU" sz="8000" b="0" i="0" dirty="0">
                <a:solidFill>
                  <a:srgbClr val="0F1115"/>
                </a:solidFill>
                <a:effectLst/>
                <a:latin typeface="quote-cjk-patch"/>
              </a:rPr>
              <a:t> 09.02.07 Информационные системы и программирование</a:t>
            </a:r>
          </a:p>
          <a:p>
            <a:r>
              <a:rPr lang="ru-RU" sz="8000" b="0" i="0" dirty="0">
                <a:solidFill>
                  <a:srgbClr val="0F1115"/>
                </a:solidFill>
                <a:effectLst/>
                <a:latin typeface="quote-cjk-patch"/>
              </a:rPr>
              <a:t>КОГПОБУ «Слободской колледж педагогики и социальных отношений»</a:t>
            </a:r>
            <a:r>
              <a:rPr lang="ru-RU" sz="8000" b="1" dirty="0">
                <a:solidFill>
                  <a:srgbClr val="0F1115"/>
                </a:solidFill>
                <a:latin typeface="quote-cjk-patch"/>
              </a:rPr>
              <a:t> Руководитель</a:t>
            </a:r>
            <a:r>
              <a:rPr lang="en-US" sz="8000" dirty="0">
                <a:solidFill>
                  <a:srgbClr val="0F1115"/>
                </a:solidFill>
                <a:latin typeface="quote-cjk-patch"/>
              </a:rPr>
              <a:t>: </a:t>
            </a:r>
            <a:r>
              <a:rPr lang="ru-RU" sz="8000" dirty="0">
                <a:solidFill>
                  <a:srgbClr val="0F1115"/>
                </a:solidFill>
                <a:latin typeface="quote-cjk-patch"/>
              </a:rPr>
              <a:t>Калинин Арсений Олегович</a:t>
            </a:r>
            <a:endParaRPr lang="ru-RU" sz="8000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ctr"/>
            <a:br>
              <a:rPr lang="ru-RU" sz="8000" b="0" i="0" dirty="0">
                <a:solidFill>
                  <a:srgbClr val="0F1115"/>
                </a:solidFill>
                <a:effectLst/>
                <a:latin typeface="quote-cjk-patch"/>
              </a:rPr>
            </a:br>
            <a:r>
              <a:rPr lang="ru-RU" sz="8000" b="0" i="0" dirty="0">
                <a:solidFill>
                  <a:srgbClr val="0F1115"/>
                </a:solidFill>
                <a:effectLst/>
                <a:latin typeface="quote-cjk-patch"/>
              </a:rPr>
              <a:t>2025-2026 уч. год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04190096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0D095CB-E9BB-4401-8296-78F786FC84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>
                <a:solidFill>
                  <a:srgbClr val="0F1115"/>
                </a:solidFill>
                <a:effectLst/>
                <a:latin typeface="quote-cjk-patch"/>
              </a:rPr>
              <a:t>Цели и задачи практики</a:t>
            </a:r>
            <a:br>
              <a:rPr lang="ru-RU" b="1" dirty="0">
                <a:solidFill>
                  <a:srgbClr val="0F1115"/>
                </a:solidFill>
                <a:effectLst/>
                <a:latin typeface="quote-cjk-patch"/>
              </a:rPr>
            </a:b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A1B1443-E2B8-4CDD-9B5E-04C2E36C8E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lang="ru-RU" b="1" i="0" dirty="0">
                <a:solidFill>
                  <a:srgbClr val="0F1115"/>
                </a:solidFill>
                <a:effectLst/>
                <a:latin typeface="quote-cjk-patch"/>
              </a:rPr>
              <a:t>Цель практики:</a:t>
            </a:r>
            <a:b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</a:b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Формирование профессиональных компетенций в области сопровождения и обслуживания программного обеспечения компьютерных систем</a:t>
            </a:r>
          </a:p>
          <a:p>
            <a:pPr algn="l"/>
            <a:r>
              <a:rPr lang="ru-RU" b="1" i="0" dirty="0">
                <a:solidFill>
                  <a:srgbClr val="0F1115"/>
                </a:solidFill>
                <a:effectLst/>
                <a:latin typeface="quote-cjk-patch"/>
              </a:rPr>
              <a:t>Основные задачи:</a:t>
            </a:r>
            <a:endParaRPr lang="ru-RU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lvl="1"/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Установка и настройка ОС (Ubuntu, РЕДОС)</a:t>
            </a:r>
          </a:p>
          <a:p>
            <a:pPr lvl="1"/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Установка прикладного ПО</a:t>
            </a:r>
          </a:p>
          <a:p>
            <a:pPr lvl="1"/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Доработка программного модуля (1С)</a:t>
            </a:r>
          </a:p>
          <a:p>
            <a:pPr lvl="1"/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Написание юнит-тестов</a:t>
            </a:r>
          </a:p>
          <a:p>
            <a:pPr lvl="1"/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Развертывание готовых решений</a:t>
            </a:r>
          </a:p>
          <a:p>
            <a:pPr lvl="1"/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Разработка руководства по установке </a:t>
            </a:r>
            <a:r>
              <a:rPr lang="ru-RU" b="0" i="0" dirty="0" err="1">
                <a:solidFill>
                  <a:srgbClr val="0F1115"/>
                </a:solidFill>
                <a:effectLst/>
                <a:latin typeface="quote-cjk-patch"/>
              </a:rPr>
              <a:t>OpenMediaVault</a:t>
            </a:r>
            <a:endParaRPr lang="ru-RU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633081719"/>
      </p:ext>
    </p:extLst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EE9D67E-15D9-400E-A19E-597BE58986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1" dirty="0">
                <a:solidFill>
                  <a:srgbClr val="0F1115"/>
                </a:solidFill>
                <a:effectLst/>
                <a:latin typeface="quote-cjk-patch"/>
              </a:rPr>
              <a:t>Характеристика объекта практики</a:t>
            </a:r>
            <a:br>
              <a:rPr lang="ru-RU" b="1" dirty="0">
                <a:solidFill>
                  <a:srgbClr val="0F1115"/>
                </a:solidFill>
                <a:effectLst/>
                <a:latin typeface="quote-cjk-patch"/>
              </a:rPr>
            </a:b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5CD814A-74BF-4FB8-A35D-3F5807B69E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lang="ru-RU" b="1" i="0" dirty="0">
                <a:solidFill>
                  <a:srgbClr val="0F1115"/>
                </a:solidFill>
                <a:effectLst/>
                <a:latin typeface="quote-cjk-patch"/>
              </a:rPr>
              <a:t>Место прохождения практики:</a:t>
            </a:r>
            <a:b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</a:b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КОГПОБУ «Слободской колледж педагогики и социальных отношений»</a:t>
            </a:r>
          </a:p>
          <a:p>
            <a:pPr algn="l"/>
            <a:r>
              <a:rPr lang="ru-RU" b="1" i="0" dirty="0">
                <a:solidFill>
                  <a:srgbClr val="0F1115"/>
                </a:solidFill>
                <a:effectLst/>
                <a:latin typeface="quote-cjk-patch"/>
              </a:rPr>
              <a:t>Юридический адрес:</a:t>
            </a:r>
            <a:b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</a:b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613150, Кировская область, г. Слободской, ул. Рождественская, д. 69</a:t>
            </a:r>
          </a:p>
          <a:p>
            <a:pPr algn="l"/>
            <a:r>
              <a:rPr lang="ru-RU" b="1" i="0" dirty="0">
                <a:solidFill>
                  <a:srgbClr val="0F1115"/>
                </a:solidFill>
                <a:effectLst/>
                <a:latin typeface="quote-cjk-patch"/>
              </a:rPr>
              <a:t>Год основания:</a:t>
            </a: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 1904</a:t>
            </a:r>
          </a:p>
          <a:p>
            <a:pPr algn="l"/>
            <a:r>
              <a:rPr lang="ru-RU" b="1" i="0" dirty="0">
                <a:solidFill>
                  <a:srgbClr val="0F1115"/>
                </a:solidFill>
                <a:effectLst/>
                <a:latin typeface="quote-cjk-patch"/>
              </a:rPr>
              <a:t>Рабочее место:</a:t>
            </a: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 Учебный кабинет, персональный компьютер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151553270"/>
      </p:ext>
    </p:extLst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B5AEDFD-D8C8-4A23-A381-3471AEC102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1" dirty="0">
                <a:solidFill>
                  <a:srgbClr val="0F1115"/>
                </a:solidFill>
                <a:effectLst/>
                <a:latin typeface="quote-cjk-patch"/>
              </a:rPr>
              <a:t>Программное и техническое обеспечение</a:t>
            </a:r>
            <a:br>
              <a:rPr lang="ru-RU" b="1" dirty="0">
                <a:solidFill>
                  <a:srgbClr val="0F1115"/>
                </a:solidFill>
                <a:effectLst/>
                <a:latin typeface="quote-cjk-patch"/>
              </a:rPr>
            </a:b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3EDEE4A-3E48-40E1-B315-2A3B0FCDBD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lang="ru-RU" b="1" i="0" dirty="0">
                <a:solidFill>
                  <a:srgbClr val="0F1115"/>
                </a:solidFill>
                <a:effectLst/>
                <a:latin typeface="quote-cjk-patch"/>
              </a:rPr>
              <a:t>Техническое обеспечение:</a:t>
            </a:r>
            <a:endParaRPr lang="ru-RU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lvl="1"/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Учебный ПК</a:t>
            </a:r>
          </a:p>
          <a:p>
            <a:pPr lvl="1"/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Периферийное оборудование</a:t>
            </a:r>
          </a:p>
          <a:p>
            <a:pPr algn="l"/>
            <a:r>
              <a:rPr lang="ru-RU" b="1" i="0" dirty="0">
                <a:solidFill>
                  <a:srgbClr val="0F1115"/>
                </a:solidFill>
                <a:effectLst/>
                <a:latin typeface="quote-cjk-patch"/>
              </a:rPr>
              <a:t>Программное обеспечение для изучения:</a:t>
            </a:r>
            <a:endParaRPr lang="ru-RU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lvl="1"/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Операционные системы (Ubuntu, РЕДОС)</a:t>
            </a:r>
          </a:p>
          <a:p>
            <a:pPr lvl="1"/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Системы виртуализации (</a:t>
            </a:r>
            <a:r>
              <a:rPr lang="ru-RU" b="0" i="0" dirty="0" err="1">
                <a:solidFill>
                  <a:srgbClr val="0F1115"/>
                </a:solidFill>
                <a:effectLst/>
                <a:latin typeface="quote-cjk-patch"/>
              </a:rPr>
              <a:t>VirtualBox</a:t>
            </a: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)</a:t>
            </a:r>
          </a:p>
          <a:p>
            <a:pPr lvl="1"/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Среда разработки (</a:t>
            </a:r>
            <a:r>
              <a:rPr lang="ru-RU" b="0" i="0" dirty="0" err="1">
                <a:solidFill>
                  <a:srgbClr val="0F1115"/>
                </a:solidFill>
                <a:effectLst/>
                <a:latin typeface="quote-cjk-patch"/>
              </a:rPr>
              <a:t>VSCode</a:t>
            </a: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)</a:t>
            </a:r>
          </a:p>
          <a:p>
            <a:pPr lvl="1"/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Конфигурации 1С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560581902"/>
      </p:ext>
    </p:extLst>
  </p:cSld>
  <p:clrMapOvr>
    <a:masterClrMapping/>
  </p:clrMapOvr>
  <p:transition spd="slow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C2A4497-0EF8-4D29-BFB1-B1B770FC90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>
                <a:solidFill>
                  <a:srgbClr val="0F1115"/>
                </a:solidFill>
                <a:effectLst/>
                <a:latin typeface="quote-cjk-patch"/>
              </a:rPr>
              <a:t>Установка и настройка ОС</a:t>
            </a:r>
            <a:br>
              <a:rPr lang="ru-RU" b="1" dirty="0">
                <a:solidFill>
                  <a:srgbClr val="0F1115"/>
                </a:solidFill>
                <a:effectLst/>
                <a:latin typeface="quote-cjk-patch"/>
              </a:rPr>
            </a:br>
            <a:endParaRPr 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2EB2C706-D290-4FA3-910C-62A37F648DE7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812800" y="2057401"/>
            <a:ext cx="5283200" cy="2743199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A329B149-954C-4639-9833-3B31D13F22FC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6764867" y="2076706"/>
            <a:ext cx="4741333" cy="274319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EB6AF5D-891A-4449-B94F-4170B6E87AB4}"/>
              </a:ext>
            </a:extLst>
          </p:cNvPr>
          <p:cNvSpPr txBox="1"/>
          <p:nvPr/>
        </p:nvSpPr>
        <p:spPr>
          <a:xfrm>
            <a:off x="1761066" y="5053378"/>
            <a:ext cx="211102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Ubuntu 22.04.4 LTS </a:t>
            </a:r>
            <a:endParaRPr lang="ru-RU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8F13CCE-A94F-4BBD-BC4B-1E74887D70D5}"/>
              </a:ext>
            </a:extLst>
          </p:cNvPr>
          <p:cNvSpPr txBox="1"/>
          <p:nvPr/>
        </p:nvSpPr>
        <p:spPr>
          <a:xfrm>
            <a:off x="8489244" y="5143690"/>
            <a:ext cx="145626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ru-RU" sz="180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ea typeface="Times New Roman" panose="02020603050405020304" pitchFamily="18" charset="0"/>
              </a:rPr>
              <a:t>РЕДОС</a:t>
            </a:r>
            <a:endParaRPr lang="ru-RU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4014667"/>
      </p:ext>
    </p:extLst>
  </p:cSld>
  <p:clrMapOvr>
    <a:masterClrMapping/>
  </p:clrMapOvr>
  <p:transition spd="slow"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3F15055-2C53-46C1-ADF0-C4D01F77E0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1" dirty="0">
                <a:solidFill>
                  <a:srgbClr val="0F1115"/>
                </a:solidFill>
                <a:effectLst/>
                <a:latin typeface="quote-cjk-patch"/>
              </a:rPr>
              <a:t>Установка программного обеспечения</a:t>
            </a:r>
            <a:br>
              <a:rPr lang="ru-RU" b="1" dirty="0">
                <a:solidFill>
                  <a:srgbClr val="0F1115"/>
                </a:solidFill>
                <a:effectLst/>
                <a:latin typeface="quote-cjk-patch"/>
              </a:rPr>
            </a:b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FEC89B3-B1F6-4BA8-8FB9-EAAD49F873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2194560"/>
            <a:ext cx="4405489" cy="4024125"/>
          </a:xfrm>
        </p:spPr>
        <p:txBody>
          <a:bodyPr/>
          <a:lstStyle/>
          <a:p>
            <a:pPr algn="l"/>
            <a:r>
              <a:rPr lang="ru-RU" b="1" i="0" dirty="0">
                <a:solidFill>
                  <a:srgbClr val="0F1115"/>
                </a:solidFill>
                <a:effectLst/>
                <a:latin typeface="quote-cjk-patch"/>
              </a:rPr>
              <a:t>Категории установленного ПО:</a:t>
            </a:r>
            <a:endParaRPr lang="ru-RU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lvl="1"/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Архиваторы</a:t>
            </a:r>
          </a:p>
          <a:p>
            <a:pPr lvl="1"/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Офисные пакеты</a:t>
            </a:r>
          </a:p>
          <a:p>
            <a:pPr lvl="1"/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Медиа-плееры</a:t>
            </a:r>
          </a:p>
          <a:p>
            <a:pPr lvl="1"/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Антивирусные программы</a:t>
            </a:r>
          </a:p>
          <a:p>
            <a:pPr lvl="1"/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Браузеры</a:t>
            </a:r>
          </a:p>
          <a:p>
            <a:endParaRPr lang="ru-RU" dirty="0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E0F81534-9BA1-41B1-B764-7C5F05FAAC27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5655733" y="1788287"/>
            <a:ext cx="3844113" cy="219921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C2B76AEB-C234-4CCB-AA10-2423BC80974A}"/>
              </a:ext>
            </a:extLst>
          </p:cNvPr>
          <p:cNvSpPr txBox="1"/>
          <p:nvPr/>
        </p:nvSpPr>
        <p:spPr>
          <a:xfrm>
            <a:off x="9499846" y="2852278"/>
            <a:ext cx="3048000" cy="4580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50000"/>
              </a:lnSpc>
            </a:pPr>
            <a:r>
              <a:rPr lang="ru-RU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Установка 7zip на 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Ubuntu</a:t>
            </a:r>
            <a:endParaRPr lang="ru-RU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46874F4B-F99F-40BB-89CF-C45AF2DFDBAC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5663703" y="4206622"/>
            <a:ext cx="3512079" cy="2199217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9254AB68-1D9F-4D90-B4D1-9E3087C3C7B4}"/>
              </a:ext>
            </a:extLst>
          </p:cNvPr>
          <p:cNvSpPr txBox="1"/>
          <p:nvPr/>
        </p:nvSpPr>
        <p:spPr>
          <a:xfrm>
            <a:off x="9177866" y="5007339"/>
            <a:ext cx="30931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spcBef>
                <a:spcPts val="1200"/>
              </a:spcBef>
              <a:spcAft>
                <a:spcPts val="1200"/>
              </a:spcAft>
            </a:pPr>
            <a:r>
              <a:rPr lang="ru-RU" sz="180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ea typeface="Times New Roman" panose="02020603050405020304" pitchFamily="18" charset="0"/>
              </a:rPr>
              <a:t>Установка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VSCode</a:t>
            </a: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на РЕДОС</a:t>
            </a:r>
            <a:endParaRPr lang="ru-RU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29497417"/>
      </p:ext>
    </p:extLst>
  </p:cSld>
  <p:clrMapOvr>
    <a:masterClrMapping/>
  </p:clrMapOvr>
  <p:transition spd="slow">
    <p:push dir="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B4F2DB7-B641-436A-A26A-E0C769B286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b="1" dirty="0">
                <a:solidFill>
                  <a:srgbClr val="0F1115"/>
                </a:solidFill>
                <a:effectLst/>
                <a:latin typeface="quote-cjk-patch"/>
              </a:rPr>
              <a:t>Доработка конфигурации 1с</a:t>
            </a:r>
            <a:br>
              <a:rPr lang="ru-RU" b="1" dirty="0">
                <a:solidFill>
                  <a:srgbClr val="0F1115"/>
                </a:solidFill>
                <a:effectLst/>
                <a:latin typeface="quote-cjk-patch"/>
              </a:rPr>
            </a:b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1E5719B-ACB2-4E52-BFAD-207DB61C47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lang="ru-RU" b="1" i="0" dirty="0">
                <a:solidFill>
                  <a:srgbClr val="0F1115"/>
                </a:solidFill>
                <a:effectLst/>
                <a:latin typeface="quote-cjk-patch"/>
              </a:rPr>
              <a:t>Выполненная работа:</a:t>
            </a:r>
            <a:b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</a:b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Доработка конфигурации 1С для реализации </a:t>
            </a:r>
            <a:r>
              <a:rPr lang="ru-RU" b="0" i="0" dirty="0" err="1">
                <a:solidFill>
                  <a:srgbClr val="0F1115"/>
                </a:solidFill>
                <a:effectLst/>
                <a:latin typeface="quote-cjk-patch"/>
              </a:rPr>
              <a:t>канбан</a:t>
            </a: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-доски</a:t>
            </a:r>
          </a:p>
          <a:p>
            <a:pPr algn="l"/>
            <a:r>
              <a:rPr lang="ru-RU" b="1" i="0" dirty="0">
                <a:solidFill>
                  <a:srgbClr val="0F1115"/>
                </a:solidFill>
                <a:effectLst/>
                <a:latin typeface="quote-cjk-patch"/>
              </a:rPr>
              <a:t>Что такое </a:t>
            </a:r>
            <a:r>
              <a:rPr lang="ru-RU" b="1" i="0" dirty="0" err="1">
                <a:solidFill>
                  <a:srgbClr val="0F1115"/>
                </a:solidFill>
                <a:effectLst/>
                <a:latin typeface="quote-cjk-patch"/>
              </a:rPr>
              <a:t>канбан</a:t>
            </a:r>
            <a:r>
              <a:rPr lang="ru-RU" b="1" i="0" dirty="0">
                <a:solidFill>
                  <a:srgbClr val="0F1115"/>
                </a:solidFill>
                <a:effectLst/>
                <a:latin typeface="quote-cjk-patch"/>
              </a:rPr>
              <a:t>-доска?</a:t>
            </a:r>
            <a:b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</a:b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Инструмент управления задачами, визуализирующий рабочий процесс</a:t>
            </a:r>
          </a:p>
          <a:p>
            <a:pPr algn="l"/>
            <a:r>
              <a:rPr lang="ru-RU" b="1" i="0" dirty="0">
                <a:solidFill>
                  <a:srgbClr val="0F1115"/>
                </a:solidFill>
                <a:effectLst/>
                <a:latin typeface="quote-cjk-patch"/>
              </a:rPr>
              <a:t>Результат:</a:t>
            </a:r>
            <a:b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</a:br>
            <a:endParaRPr 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A661A4AD-51C9-4447-AE6E-1616F3D6900A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3125787" y="3522133"/>
            <a:ext cx="5940425" cy="33358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0169636"/>
      </p:ext>
    </p:extLst>
  </p:cSld>
  <p:clrMapOvr>
    <a:masterClrMapping/>
  </p:clrMapOvr>
  <p:transition spd="slow">
    <p:push dir="u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EE0C96B-DD38-4EE8-8A1C-06B0CB1ECE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>
                <a:solidFill>
                  <a:srgbClr val="0F1115"/>
                </a:solidFill>
                <a:effectLst/>
                <a:latin typeface="quote-cjk-patch"/>
              </a:rPr>
              <a:t>Развертывание и дизайн сайта</a:t>
            </a:r>
            <a:br>
              <a:rPr lang="ru-RU" b="1" dirty="0">
                <a:solidFill>
                  <a:srgbClr val="0F1115"/>
                </a:solidFill>
                <a:effectLst/>
                <a:latin typeface="quote-cjk-patch"/>
              </a:rPr>
            </a:br>
            <a:endParaRPr 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516E0A6A-A4C6-42C5-B95E-3E3E2F740869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790646" y="1562982"/>
            <a:ext cx="6840220" cy="3438525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E9A590EE-6D35-4358-A855-195DBB2401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97778" y="3282244"/>
            <a:ext cx="6378222" cy="32473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2106038"/>
      </p:ext>
    </p:extLst>
  </p:cSld>
  <p:clrMapOvr>
    <a:masterClrMapping/>
  </p:clrMapOvr>
  <p:transition spd="slow">
    <p:push dir="u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1CC13BC-D7A8-4690-8E55-E40835045F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1" dirty="0">
                <a:solidFill>
                  <a:srgbClr val="0F1115"/>
                </a:solidFill>
                <a:effectLst/>
                <a:latin typeface="quote-cjk-patch"/>
              </a:rPr>
              <a:t>Руководство по установке </a:t>
            </a:r>
            <a:r>
              <a:rPr lang="en-US" b="1" dirty="0" err="1">
                <a:solidFill>
                  <a:srgbClr val="0F1115"/>
                </a:solidFill>
                <a:effectLst/>
                <a:latin typeface="quote-cjk-patch"/>
              </a:rPr>
              <a:t>OpenMediaVault</a:t>
            </a:r>
            <a:r>
              <a:rPr lang="en-US" b="1" dirty="0">
                <a:solidFill>
                  <a:srgbClr val="0F1115"/>
                </a:solidFill>
                <a:effectLst/>
                <a:latin typeface="quote-cjk-patch"/>
              </a:rPr>
              <a:t> </a:t>
            </a:r>
            <a:br>
              <a:rPr lang="en-US" b="1" dirty="0">
                <a:solidFill>
                  <a:srgbClr val="0F1115"/>
                </a:solidFill>
                <a:effectLst/>
                <a:latin typeface="quote-cjk-patch"/>
              </a:rPr>
            </a:br>
            <a:endParaRPr lang="ru-RU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1FCA95B8-ABC5-4EE7-8A3B-7E825CD4D36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85800" y="2328911"/>
            <a:ext cx="10817128" cy="375543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122199" rIns="0" bIns="122199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2800" b="1" i="0" u="none" strike="noStrike" cap="none" normalizeH="0" baseline="0" dirty="0" err="1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OpenMediaVault</a:t>
            </a:r>
            <a:r>
              <a:rPr kumimoji="0" lang="ru-RU" altLang="ru-RU" sz="2800" b="1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 (OMV)</a:t>
            </a:r>
            <a:r>
              <a:rPr kumimoji="0" lang="ru-RU" altLang="ru-RU" sz="28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 – свободная ОС для сетевого хранилища (NAS)</a:t>
            </a:r>
            <a:endParaRPr kumimoji="0" lang="ru-RU" altLang="ru-RU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2800" b="1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Основные этапы установки:</a:t>
            </a:r>
            <a:endParaRPr kumimoji="0" lang="ru-RU" altLang="ru-RU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ru-RU" altLang="ru-RU" sz="28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Создание виртуальной машины в </a:t>
            </a:r>
            <a:r>
              <a:rPr kumimoji="0" lang="ru-RU" altLang="ru-RU" sz="2800" b="0" i="0" u="none" strike="noStrike" cap="none" normalizeH="0" baseline="0" dirty="0" err="1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VirtualBox</a:t>
            </a:r>
            <a:endParaRPr kumimoji="0" lang="ru-RU" altLang="ru-RU" sz="2800" b="0" i="0" u="none" strike="noStrike" cap="none" normalizeH="0" baseline="0" dirty="0">
              <a:ln>
                <a:noFill/>
              </a:ln>
              <a:solidFill>
                <a:srgbClr val="0F1115"/>
              </a:solidFill>
              <a:effectLst/>
              <a:latin typeface="quote-cjk-patch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r>
              <a:rPr kumimoji="0" lang="ru-RU" altLang="ru-RU" sz="28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Настройка сети (Сетевой мост)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3"/>
              <a:tabLst/>
            </a:pPr>
            <a:r>
              <a:rPr kumimoji="0" lang="ru-RU" altLang="ru-RU" sz="28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Установка из ISO-образа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4"/>
              <a:tabLst/>
            </a:pPr>
            <a:r>
              <a:rPr kumimoji="0" lang="ru-RU" altLang="ru-RU" sz="28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Доступ к веб-интерфейсу (</a:t>
            </a:r>
            <a:r>
              <a:rPr kumimoji="0" lang="ru-RU" altLang="ru-RU" sz="2400" b="0" i="0" u="none" strike="noStrike" cap="none" normalizeH="0" baseline="0" dirty="0" err="1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admin</a:t>
            </a:r>
            <a:r>
              <a:rPr kumimoji="0" lang="ru-RU" altLang="ru-RU" sz="14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 / </a:t>
            </a:r>
            <a:r>
              <a:rPr kumimoji="0" lang="ru-RU" altLang="ru-RU" sz="2400" b="0" i="0" u="none" strike="noStrike" cap="none" normalizeH="0" baseline="0" dirty="0" err="1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openmediavault</a:t>
            </a:r>
            <a:r>
              <a:rPr kumimoji="0" lang="ru-RU" altLang="ru-RU" sz="28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5"/>
              <a:tabLst/>
            </a:pPr>
            <a:r>
              <a:rPr kumimoji="0" lang="ru-RU" altLang="ru-RU" sz="28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Подготовка дискового пространства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2800" b="1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Требования:</a:t>
            </a:r>
            <a:r>
              <a:rPr kumimoji="0" lang="ru-RU" altLang="ru-RU" sz="28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 RAM от 1 ГБ, диск от 10 ГБ</a:t>
            </a:r>
            <a:endParaRPr kumimoji="0" lang="ru-RU" altLang="ru-RU" sz="4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82669247"/>
      </p:ext>
    </p:extLst>
  </p:cSld>
  <p:clrMapOvr>
    <a:masterClrMapping/>
  </p:clrMapOvr>
  <p:transition spd="slow">
    <p:push dir="u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3680EB1-1224-4DCC-8A2F-62E5A3489D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>
                <a:solidFill>
                  <a:srgbClr val="0F1115"/>
                </a:solidFill>
                <a:effectLst/>
                <a:latin typeface="quote-cjk-patch"/>
              </a:rPr>
              <a:t>Результаты практики</a:t>
            </a:r>
            <a:br>
              <a:rPr lang="ru-RU" b="1" dirty="0">
                <a:solidFill>
                  <a:srgbClr val="0F1115"/>
                </a:solidFill>
                <a:effectLst/>
                <a:latin typeface="quote-cjk-patch"/>
              </a:rPr>
            </a:br>
            <a:endParaRPr lang="ru-RU" dirty="0"/>
          </a:p>
        </p:txBody>
      </p:sp>
      <p:graphicFrame>
        <p:nvGraphicFramePr>
          <p:cNvPr id="4" name="Объект 3">
            <a:extLst>
              <a:ext uri="{FF2B5EF4-FFF2-40B4-BE49-F238E27FC236}">
                <a16:creationId xmlns:a16="http://schemas.microsoft.com/office/drawing/2014/main" id="{C8D9081D-9844-42F5-8D21-F8494A0711B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50042177"/>
              </p:ext>
            </p:extLst>
          </p:nvPr>
        </p:nvGraphicFramePr>
        <p:xfrm>
          <a:off x="2133599" y="1399587"/>
          <a:ext cx="9053691" cy="5458413"/>
        </p:xfrm>
        <a:graphic>
          <a:graphicData uri="http://schemas.openxmlformats.org/drawingml/2006/table">
            <a:tbl>
              <a:tblPr/>
              <a:tblGrid>
                <a:gridCol w="3017897">
                  <a:extLst>
                    <a:ext uri="{9D8B030D-6E8A-4147-A177-3AD203B41FA5}">
                      <a16:colId xmlns:a16="http://schemas.microsoft.com/office/drawing/2014/main" val="1478990243"/>
                    </a:ext>
                  </a:extLst>
                </a:gridCol>
                <a:gridCol w="3017897">
                  <a:extLst>
                    <a:ext uri="{9D8B030D-6E8A-4147-A177-3AD203B41FA5}">
                      <a16:colId xmlns:a16="http://schemas.microsoft.com/office/drawing/2014/main" val="777121399"/>
                    </a:ext>
                  </a:extLst>
                </a:gridCol>
                <a:gridCol w="3017897">
                  <a:extLst>
                    <a:ext uri="{9D8B030D-6E8A-4147-A177-3AD203B41FA5}">
                      <a16:colId xmlns:a16="http://schemas.microsoft.com/office/drawing/2014/main" val="3813230495"/>
                    </a:ext>
                  </a:extLst>
                </a:gridCol>
              </a:tblGrid>
              <a:tr h="362225">
                <a:tc>
                  <a:txBody>
                    <a:bodyPr/>
                    <a:lstStyle/>
                    <a:p>
                      <a:pPr algn="l"/>
                      <a:r>
                        <a:rPr lang="ru-RU" sz="1400" b="0">
                          <a:effectLst/>
                          <a:latin typeface="quote-cjk-patch"/>
                        </a:rPr>
                        <a:t>№</a:t>
                      </a:r>
                    </a:p>
                  </a:txBody>
                  <a:tcPr marL="56948" marR="94913" marT="59321" marB="5932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400" b="0">
                          <a:effectLst/>
                          <a:latin typeface="quote-cjk-patch"/>
                        </a:rPr>
                        <a:t>Вид работы</a:t>
                      </a:r>
                    </a:p>
                  </a:txBody>
                  <a:tcPr marL="94913" marR="94913" marT="59321" marB="5932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400" b="0">
                          <a:effectLst/>
                          <a:latin typeface="quote-cjk-patch"/>
                        </a:rPr>
                        <a:t>Статус</a:t>
                      </a:r>
                    </a:p>
                  </a:txBody>
                  <a:tcPr marL="94913" marR="94913" marT="59321" marB="5932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0941609"/>
                  </a:ext>
                </a:extLst>
              </a:tr>
              <a:tr h="827791">
                <a:tc>
                  <a:txBody>
                    <a:bodyPr/>
                    <a:lstStyle/>
                    <a:p>
                      <a:r>
                        <a:rPr lang="ru-RU" sz="1400" b="0" dirty="0">
                          <a:effectLst/>
                          <a:latin typeface="quote-cjk-patch"/>
                        </a:rPr>
                        <a:t>1</a:t>
                      </a:r>
                    </a:p>
                  </a:txBody>
                  <a:tcPr marL="56948" marR="94913" marT="59321" marB="5932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b="0">
                          <a:effectLst/>
                          <a:latin typeface="quote-cjk-patch"/>
                        </a:rPr>
                        <a:t>Установка и настройка ОС (Ubuntu, РЕДОС)</a:t>
                      </a:r>
                    </a:p>
                  </a:txBody>
                  <a:tcPr marL="94913" marR="94913" marT="59321" marB="5932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b="0" dirty="0">
                          <a:effectLst/>
                          <a:latin typeface="quote-cjk-patch"/>
                        </a:rPr>
                        <a:t>Успешно </a:t>
                      </a:r>
                      <a:r>
                        <a:rPr lang="ru-RU" sz="1400" b="0" dirty="0" err="1">
                          <a:effectLst/>
                          <a:latin typeface="quote-cjk-patch"/>
                        </a:rPr>
                        <a:t>выполненно</a:t>
                      </a:r>
                      <a:endParaRPr lang="ru-RU" sz="1400" b="0" dirty="0">
                        <a:effectLst/>
                        <a:latin typeface="quote-cjk-patch"/>
                      </a:endParaRPr>
                    </a:p>
                  </a:txBody>
                  <a:tcPr marL="94913" marR="56948" marT="59321" marB="5932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6629119"/>
                  </a:ext>
                </a:extLst>
              </a:tr>
              <a:tr h="595008">
                <a:tc>
                  <a:txBody>
                    <a:bodyPr/>
                    <a:lstStyle/>
                    <a:p>
                      <a:r>
                        <a:rPr lang="ru-RU" sz="1400" b="0">
                          <a:effectLst/>
                          <a:latin typeface="quote-cjk-patch"/>
                        </a:rPr>
                        <a:t>2</a:t>
                      </a:r>
                    </a:p>
                  </a:txBody>
                  <a:tcPr marL="56948" marR="94913" marT="59321" marB="5932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b="0">
                          <a:effectLst/>
                          <a:latin typeface="quote-cjk-patch"/>
                        </a:rPr>
                        <a:t>Установка прикладного ПО</a:t>
                      </a:r>
                    </a:p>
                  </a:txBody>
                  <a:tcPr marL="94913" marR="94913" marT="59321" marB="5932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b="0" dirty="0">
                          <a:effectLst/>
                          <a:latin typeface="quote-cjk-patch"/>
                        </a:rPr>
                        <a:t>Успешно </a:t>
                      </a:r>
                      <a:r>
                        <a:rPr lang="ru-RU" sz="1400" b="0" dirty="0" err="1">
                          <a:effectLst/>
                          <a:latin typeface="quote-cjk-patch"/>
                        </a:rPr>
                        <a:t>выполненно</a:t>
                      </a:r>
                      <a:endParaRPr lang="ru-RU" sz="1400" b="0" dirty="0">
                        <a:effectLst/>
                        <a:latin typeface="quote-cjk-patch"/>
                      </a:endParaRPr>
                    </a:p>
                  </a:txBody>
                  <a:tcPr marL="94913" marR="56948" marT="59321" marB="5932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7597422"/>
                  </a:ext>
                </a:extLst>
              </a:tr>
              <a:tr h="827791">
                <a:tc>
                  <a:txBody>
                    <a:bodyPr/>
                    <a:lstStyle/>
                    <a:p>
                      <a:r>
                        <a:rPr lang="ru-RU" sz="1400" b="0" dirty="0">
                          <a:effectLst/>
                          <a:latin typeface="quote-cjk-patch"/>
                        </a:rPr>
                        <a:t>3</a:t>
                      </a:r>
                    </a:p>
                  </a:txBody>
                  <a:tcPr marL="56948" marR="94913" marT="59321" marB="5932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b="0">
                          <a:effectLst/>
                          <a:latin typeface="quote-cjk-patch"/>
                        </a:rPr>
                        <a:t>Доработка конфигурации 1С</a:t>
                      </a:r>
                    </a:p>
                  </a:txBody>
                  <a:tcPr marL="94913" marR="94913" marT="59321" marB="5932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b="0" dirty="0">
                          <a:effectLst/>
                          <a:latin typeface="quote-cjk-patch"/>
                        </a:rPr>
                        <a:t>Успешно </a:t>
                      </a:r>
                      <a:r>
                        <a:rPr lang="ru-RU" sz="1400" b="0" dirty="0" err="1">
                          <a:effectLst/>
                          <a:latin typeface="quote-cjk-patch"/>
                        </a:rPr>
                        <a:t>выполненно</a:t>
                      </a:r>
                      <a:endParaRPr lang="ru-RU" sz="1400" b="0" dirty="0">
                        <a:effectLst/>
                        <a:latin typeface="quote-cjk-patch"/>
                      </a:endParaRPr>
                    </a:p>
                  </a:txBody>
                  <a:tcPr marL="94913" marR="56948" marT="59321" marB="5932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5528948"/>
                  </a:ext>
                </a:extLst>
              </a:tr>
              <a:tr h="595008">
                <a:tc>
                  <a:txBody>
                    <a:bodyPr/>
                    <a:lstStyle/>
                    <a:p>
                      <a:r>
                        <a:rPr lang="ru-RU" sz="1400" b="0">
                          <a:effectLst/>
                          <a:latin typeface="quote-cjk-patch"/>
                        </a:rPr>
                        <a:t>4</a:t>
                      </a:r>
                    </a:p>
                  </a:txBody>
                  <a:tcPr marL="56948" marR="94913" marT="59321" marB="5932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b="0">
                          <a:effectLst/>
                          <a:latin typeface="quote-cjk-patch"/>
                        </a:rPr>
                        <a:t>Написание юнит-тестов</a:t>
                      </a:r>
                    </a:p>
                  </a:txBody>
                  <a:tcPr marL="94913" marR="94913" marT="59321" marB="5932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b="0" dirty="0">
                          <a:effectLst/>
                          <a:latin typeface="quote-cjk-patch"/>
                        </a:rPr>
                        <a:t>Успешно </a:t>
                      </a:r>
                      <a:r>
                        <a:rPr lang="ru-RU" sz="1400" b="0" dirty="0" err="1">
                          <a:effectLst/>
                          <a:latin typeface="quote-cjk-patch"/>
                        </a:rPr>
                        <a:t>выполненно</a:t>
                      </a:r>
                      <a:endParaRPr lang="ru-RU" sz="1400" b="0" dirty="0">
                        <a:effectLst/>
                        <a:latin typeface="quote-cjk-patch"/>
                      </a:endParaRPr>
                    </a:p>
                  </a:txBody>
                  <a:tcPr marL="94913" marR="56948" marT="59321" marB="5932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3269681"/>
                  </a:ext>
                </a:extLst>
              </a:tr>
              <a:tr h="827791">
                <a:tc>
                  <a:txBody>
                    <a:bodyPr/>
                    <a:lstStyle/>
                    <a:p>
                      <a:r>
                        <a:rPr lang="ru-RU" sz="1400" b="0">
                          <a:effectLst/>
                          <a:latin typeface="quote-cjk-patch"/>
                        </a:rPr>
                        <a:t>5</a:t>
                      </a:r>
                    </a:p>
                  </a:txBody>
                  <a:tcPr marL="56948" marR="94913" marT="59321" marB="5932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b="0">
                          <a:effectLst/>
                          <a:latin typeface="quote-cjk-patch"/>
                        </a:rPr>
                        <a:t>Развертывание программного модуля</a:t>
                      </a:r>
                    </a:p>
                  </a:txBody>
                  <a:tcPr marL="94913" marR="94913" marT="59321" marB="5932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b="0" dirty="0">
                          <a:effectLst/>
                          <a:latin typeface="quote-cjk-patch"/>
                        </a:rPr>
                        <a:t>Успешно </a:t>
                      </a:r>
                      <a:r>
                        <a:rPr lang="ru-RU" sz="1400" b="0" dirty="0" err="1">
                          <a:effectLst/>
                          <a:latin typeface="quote-cjk-patch"/>
                        </a:rPr>
                        <a:t>выполненно</a:t>
                      </a:r>
                      <a:endParaRPr lang="ru-RU" sz="1400" b="0" dirty="0">
                        <a:effectLst/>
                        <a:latin typeface="quote-cjk-patch"/>
                      </a:endParaRPr>
                    </a:p>
                  </a:txBody>
                  <a:tcPr marL="94913" marR="56948" marT="59321" marB="5932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137652"/>
                  </a:ext>
                </a:extLst>
              </a:tr>
              <a:tr h="595008">
                <a:tc>
                  <a:txBody>
                    <a:bodyPr/>
                    <a:lstStyle/>
                    <a:p>
                      <a:r>
                        <a:rPr lang="ru-RU" sz="1400" b="0">
                          <a:effectLst/>
                          <a:latin typeface="quote-cjk-patch"/>
                        </a:rPr>
                        <a:t>6</a:t>
                      </a:r>
                    </a:p>
                  </a:txBody>
                  <a:tcPr marL="56948" marR="94913" marT="59321" marB="5932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b="0">
                          <a:effectLst/>
                          <a:latin typeface="quote-cjk-patch"/>
                        </a:rPr>
                        <a:t>Создание дизайна сайта</a:t>
                      </a:r>
                    </a:p>
                  </a:txBody>
                  <a:tcPr marL="94913" marR="94913" marT="59321" marB="5932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b="0" dirty="0">
                          <a:effectLst/>
                          <a:latin typeface="quote-cjk-patch"/>
                        </a:rPr>
                        <a:t>Успешно </a:t>
                      </a:r>
                      <a:r>
                        <a:rPr lang="ru-RU" sz="1400" b="0" dirty="0" err="1">
                          <a:effectLst/>
                          <a:latin typeface="quote-cjk-patch"/>
                        </a:rPr>
                        <a:t>выполненно</a:t>
                      </a:r>
                      <a:endParaRPr lang="ru-RU" sz="1400" b="0" dirty="0">
                        <a:effectLst/>
                        <a:latin typeface="quote-cjk-patch"/>
                      </a:endParaRPr>
                    </a:p>
                  </a:txBody>
                  <a:tcPr marL="94913" marR="56948" marT="59321" marB="5932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45391992"/>
                  </a:ext>
                </a:extLst>
              </a:tr>
              <a:tr h="827791">
                <a:tc>
                  <a:txBody>
                    <a:bodyPr/>
                    <a:lstStyle/>
                    <a:p>
                      <a:r>
                        <a:rPr lang="ru-RU" sz="1400" b="0">
                          <a:effectLst/>
                          <a:latin typeface="quote-cjk-patch"/>
                        </a:rPr>
                        <a:t>7</a:t>
                      </a:r>
                    </a:p>
                  </a:txBody>
                  <a:tcPr marL="56948" marR="94913" marT="59321" marB="5932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b="0">
                          <a:effectLst/>
                          <a:latin typeface="quote-cjk-patch"/>
                        </a:rPr>
                        <a:t>Разработка руководства по установке OMV</a:t>
                      </a:r>
                    </a:p>
                  </a:txBody>
                  <a:tcPr marL="94913" marR="94913" marT="59321" marB="5932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b="0" dirty="0">
                          <a:effectLst/>
                          <a:latin typeface="quote-cjk-patch"/>
                        </a:rPr>
                        <a:t>Успешно </a:t>
                      </a:r>
                      <a:r>
                        <a:rPr lang="ru-RU" sz="1400" b="0" dirty="0" err="1">
                          <a:effectLst/>
                          <a:latin typeface="quote-cjk-patch"/>
                        </a:rPr>
                        <a:t>выполненно</a:t>
                      </a:r>
                      <a:endParaRPr lang="ru-RU" sz="1400" b="0" dirty="0">
                        <a:effectLst/>
                        <a:latin typeface="quote-cjk-patch"/>
                      </a:endParaRPr>
                    </a:p>
                  </a:txBody>
                  <a:tcPr marL="94913" marR="56948" marT="59321" marB="5932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7666235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49707241"/>
      </p:ext>
    </p:extLst>
  </p:cSld>
  <p:clrMapOvr>
    <a:masterClrMapping/>
  </p:clrMapOvr>
  <p:transition spd="slow">
    <p:push dir="u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8618A98-8797-4C2A-B029-888B358840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>
                <a:solidFill>
                  <a:srgbClr val="0F1115"/>
                </a:solidFill>
                <a:effectLst/>
                <a:latin typeface="quote-cjk-patch"/>
              </a:rPr>
              <a:t>Заключение</a:t>
            </a:r>
            <a:br>
              <a:rPr lang="ru-RU" b="1" dirty="0">
                <a:solidFill>
                  <a:srgbClr val="0F1115"/>
                </a:solidFill>
                <a:effectLst/>
                <a:latin typeface="quote-cjk-patch"/>
              </a:rPr>
            </a:b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A636271-61AD-4BC8-B2CD-F5DD3BD735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lang="ru-RU" b="1" i="0" dirty="0">
                <a:solidFill>
                  <a:srgbClr val="0F1115"/>
                </a:solidFill>
                <a:effectLst/>
                <a:latin typeface="quote-cjk-patch"/>
              </a:rPr>
              <a:t>Итоги практики:</a:t>
            </a:r>
            <a:endParaRPr lang="ru-RU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Все поставленные задачи выполнены в полном объеме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Получены практические навыки сопровождения и обслуживания ПО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Освоены различные операционные системы (включая российскую РЕДОС)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Разработана техническая документация</a:t>
            </a:r>
          </a:p>
          <a:p>
            <a:pPr algn="l"/>
            <a:r>
              <a:rPr lang="ru-RU" b="1" i="0" dirty="0">
                <a:solidFill>
                  <a:srgbClr val="0F1115"/>
                </a:solidFill>
                <a:effectLst/>
                <a:latin typeface="quote-cjk-patch"/>
              </a:rPr>
              <a:t>Ссылка на </a:t>
            </a:r>
            <a:r>
              <a:rPr lang="ru-RU" b="1" i="0" dirty="0" err="1">
                <a:solidFill>
                  <a:srgbClr val="0F1115"/>
                </a:solidFill>
                <a:effectLst/>
                <a:latin typeface="quote-cjk-patch"/>
              </a:rPr>
              <a:t>Git</a:t>
            </a:r>
            <a:r>
              <a:rPr lang="ru-RU" b="1" i="0" dirty="0">
                <a:solidFill>
                  <a:srgbClr val="0F1115"/>
                </a:solidFill>
                <a:effectLst/>
                <a:latin typeface="quote-cjk-patch"/>
              </a:rPr>
              <a:t>-репозиторий:</a:t>
            </a:r>
            <a:b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</a:br>
            <a:r>
              <a:rPr lang="en-US" b="0" i="0" u="none" strike="noStrike" dirty="0">
                <a:solidFill>
                  <a:srgbClr val="3964FE"/>
                </a:solidFill>
                <a:effectLst/>
                <a:latin typeface="quote-cjk-patch"/>
              </a:rPr>
              <a:t>https://github.com/Devil-killer987/praktika_VIP.git</a:t>
            </a:r>
            <a:endParaRPr lang="ru-RU" dirty="0"/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ACC4995C-3EC5-4247-96C8-44C7815592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69350" y="4656585"/>
            <a:ext cx="1562100" cy="1562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47804388"/>
      </p:ext>
    </p:extLst>
  </p:cSld>
  <p:clrMapOvr>
    <a:masterClrMapping/>
  </p:clrMapOvr>
  <p:transition spd="slow">
    <p:push dir="u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D5F6865-58CF-45BE-9B6D-D724940ADA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Спасибо за внимание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D0546A5-021F-4727-87E2-93DC7C026C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Вопросы?</a:t>
            </a:r>
          </a:p>
        </p:txBody>
      </p:sp>
    </p:spTree>
    <p:extLst>
      <p:ext uri="{BB962C8B-B14F-4D97-AF65-F5344CB8AC3E}">
        <p14:creationId xmlns:p14="http://schemas.microsoft.com/office/powerpoint/2010/main" val="2945942898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8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0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2500"/>
                            </p:stCondLst>
                            <p:childTnLst>
                              <p:par>
                                <p:cTn id="12" presetID="32" presetClass="emph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13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4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15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6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7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3500"/>
                            </p:stCondLst>
                            <p:childTnLst>
                              <p:par>
                                <p:cTn id="19" presetID="8" presetClass="emph" presetSubtype="0" fill="hold" grpId="3" nodeType="after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20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" grpId="1"/>
      <p:bldP spid="2" grpId="2"/>
      <p:bldP spid="2" grpId="3"/>
    </p:bldLst>
  </p:timing>
</p:sld>
</file>

<file path=ppt/theme/theme1.xml><?xml version="1.0" encoding="utf-8"?>
<a:theme xmlns:a="http://schemas.openxmlformats.org/drawingml/2006/main" name="След самолета">
  <a:themeElements>
    <a:clrScheme name="След самолета">
      <a:dk1>
        <a:sysClr val="windowText" lastClr="000000"/>
      </a:dk1>
      <a:lt1>
        <a:sysClr val="window" lastClr="FFFFFF"/>
      </a:lt1>
      <a:dk2>
        <a:srgbClr val="454545"/>
      </a:dk2>
      <a:lt2>
        <a:srgbClr val="DADADA"/>
      </a:lt2>
      <a:accent1>
        <a:srgbClr val="E5224E"/>
      </a:accent1>
      <a:accent2>
        <a:srgbClr val="9D074E"/>
      </a:accent2>
      <a:accent3>
        <a:srgbClr val="7F2294"/>
      </a:accent3>
      <a:accent4>
        <a:srgbClr val="8D65EA"/>
      </a:accent4>
      <a:accent5>
        <a:srgbClr val="588FE2"/>
      </a:accent5>
      <a:accent6>
        <a:srgbClr val="127CA4"/>
      </a:accent6>
      <a:hlink>
        <a:srgbClr val="FB4AB6"/>
      </a:hlink>
      <a:folHlink>
        <a:srgbClr val="F98FE9"/>
      </a:folHlink>
    </a:clrScheme>
    <a:fontScheme name="След самолета">
      <a:maj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лед самолета">
      <a:fillStyleLst>
        <a:solidFill>
          <a:schemeClr val="phClr"/>
        </a:solidFill>
        <a:gradFill rotWithShape="1">
          <a:gsLst>
            <a:gs pos="0">
              <a:schemeClr val="phClr">
                <a:tint val="69000"/>
                <a:alpha val="100000"/>
                <a:satMod val="109000"/>
                <a:lumMod val="110000"/>
              </a:schemeClr>
            </a:gs>
            <a:gs pos="52000">
              <a:schemeClr val="phClr">
                <a:tint val="74000"/>
                <a:satMod val="100000"/>
                <a:lumMod val="104000"/>
              </a:schemeClr>
            </a:gs>
            <a:gs pos="100000">
              <a:schemeClr val="phClr">
                <a:tint val="78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00000"/>
                <a:lumMod val="104000"/>
              </a:schemeClr>
            </a:gs>
            <a:gs pos="78000">
              <a:schemeClr val="phClr">
                <a:shade val="100000"/>
                <a:satMod val="11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threePt" dir="t"/>
          </a:scene3d>
          <a:sp3d>
            <a:bevelT w="25400" h="12700"/>
          </a:sp3d>
        </a:effectStyle>
        <a:effectStyle>
          <a:effectLst>
            <a:outerShdw blurRad="57150" dist="19050" dir="5400000" algn="ctr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>
            <a:bevelT w="508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por Trail" id="{4FDF2955-7D9C-493C-B9F9-C205151B46CD}" vid="{6DB8EB18-3657-4051-A897-2ED38832359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След самолета</Template>
  <TotalTime>66</TotalTime>
  <Words>422</Words>
  <Application>Microsoft Office PowerPoint</Application>
  <PresentationFormat>Широкоэкранный</PresentationFormat>
  <Paragraphs>87</Paragraphs>
  <Slides>12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12</vt:i4>
      </vt:variant>
    </vt:vector>
  </HeadingPairs>
  <TitlesOfParts>
    <vt:vector size="18" baseType="lpstr">
      <vt:lpstr>Arial</vt:lpstr>
      <vt:lpstr>Century Gothic</vt:lpstr>
      <vt:lpstr>Menlo</vt:lpstr>
      <vt:lpstr>quote-cjk-patch</vt:lpstr>
      <vt:lpstr>Times New Roman</vt:lpstr>
      <vt:lpstr>След самолета</vt:lpstr>
      <vt:lpstr>Отчет по учебной практике ПМ04. Сопровождение и обслуживание программного обеспечения компьютерных систем</vt:lpstr>
      <vt:lpstr>Цели и задачи практики </vt:lpstr>
      <vt:lpstr>Характеристика объекта практики </vt:lpstr>
      <vt:lpstr>Программное и техническое обеспечение </vt:lpstr>
      <vt:lpstr>Установка и настройка ОС </vt:lpstr>
      <vt:lpstr>Установка программного обеспечения </vt:lpstr>
      <vt:lpstr>Доработка конфигурации 1с </vt:lpstr>
      <vt:lpstr>Развертывание и дизайн сайта </vt:lpstr>
      <vt:lpstr>Руководство по установке OpenMediaVault  </vt:lpstr>
      <vt:lpstr>Результаты практики </vt:lpstr>
      <vt:lpstr>Заключение </vt:lpstr>
      <vt:lpstr>Спасибо за внимание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Отчет по учебной практике ПМ04. Сопровождение и обслуживание программного обеспечения компьютерных систем</dc:title>
  <dc:creator>PC33-8</dc:creator>
  <cp:lastModifiedBy>PC33-8</cp:lastModifiedBy>
  <cp:revision>6</cp:revision>
  <dcterms:created xsi:type="dcterms:W3CDTF">2026-05-04T07:30:50Z</dcterms:created>
  <dcterms:modified xsi:type="dcterms:W3CDTF">2026-05-04T08:39:51Z</dcterms:modified>
</cp:coreProperties>
</file>